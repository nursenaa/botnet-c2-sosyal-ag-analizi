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61031" autoAdjust="0"/>
  </p:normalViewPr>
  <p:slideViewPr>
    <p:cSldViewPr snapToGrid="0" snapToObjects="1">
      <p:cViewPr varScale="1">
        <p:scale>
          <a:sx n="90" d="100"/>
          <a:sy n="90" d="100"/>
        </p:scale>
        <p:origin x="22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Düğümler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036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63-46C3-B6FE-E21E7EA3BFDD}"/>
              </c:ext>
            </c:extLst>
          </c:dPt>
          <c:dPt>
            <c:idx val="1"/>
            <c:bubble3D val="0"/>
            <c:spPr>
              <a:solidFill>
                <a:srgbClr val="FF0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63-46C3-B6FE-E21E7EA3BFDD}"/>
              </c:ext>
            </c:extLst>
          </c:dPt>
          <c:dPt>
            <c:idx val="2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63-46C3-B6FE-E21E7EA3BFD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63-46C3-B6FE-E21E7EA3BFD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63-46C3-B6FE-E21E7EA3BFD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63-46C3-B6FE-E21E7EA3BFD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Background (6.904)</c:v>
                </c:pt>
                <c:pt idx="1">
                  <c:v>Botnet (1.580)</c:v>
                </c:pt>
                <c:pt idx="2">
                  <c:v>Normal (217)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6904</c:v>
                </c:pt>
                <c:pt idx="1">
                  <c:v>1580</c:v>
                </c:pt>
                <c:pt idx="2">
                  <c:v>217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63-46C3-B6FE-E21E7EA3B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9D1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9D1D9"/>
                </a:solidFill>
                <a:latin typeface="Arial"/>
              </a:defRPr>
            </a:pPr>
            <a:r>
              <a:rPr lang="tr-TR" sz="1000" b="0" i="0" u="none" strike="noStrike">
                <a:solidFill>
                  <a:srgbClr val="C9D1D9"/>
                </a:solidFill>
                <a:latin typeface="Arial"/>
              </a:rPr>
              <a:t>Bağlı Bileşen Sayısı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Bileşen</c:v>
                </c:pt>
              </c:strCache>
            </c:strRef>
          </c:tx>
          <c:spPr>
            <a:solidFill>
              <a:srgbClr val="3A86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Başlangıç</c:v>
                </c:pt>
                <c:pt idx="1">
                  <c:v>S1:Lab</c:v>
                </c:pt>
                <c:pt idx="2">
                  <c:v>S3:Bot</c:v>
                </c:pt>
                <c:pt idx="3">
                  <c:v>S4:C&amp;C</c:v>
                </c:pt>
                <c:pt idx="4">
                  <c:v>S5:İkisi</c:v>
                </c:pt>
                <c:pt idx="5">
                  <c:v>S7:Top5</c:v>
                </c:pt>
                <c:pt idx="6">
                  <c:v>S8:Rast5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</c:v>
                </c:pt>
                <c:pt idx="1">
                  <c:v>4315</c:v>
                </c:pt>
                <c:pt idx="2">
                  <c:v>1641</c:v>
                </c:pt>
                <c:pt idx="3">
                  <c:v>66</c:v>
                </c:pt>
                <c:pt idx="4">
                  <c:v>1640</c:v>
                </c:pt>
                <c:pt idx="5">
                  <c:v>6886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59-44AD-8834-0497743E8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9D1D9"/>
                </a:solidFill>
                <a:latin typeface="Arial"/>
              </a:defRPr>
            </a:pPr>
            <a:r>
              <a:rPr lang="tr-TR" sz="1000" b="0" i="0" u="none" strike="noStrike">
                <a:solidFill>
                  <a:srgbClr val="C9D1D9"/>
                </a:solidFill>
                <a:latin typeface="Arial"/>
              </a:rPr>
              <a:t>En Büyük Bileşen Oranı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Büyük %</c:v>
                </c:pt>
              </c:strCache>
            </c:strRef>
          </c:tx>
          <c:spPr>
            <a:solidFill>
              <a:srgbClr val="FF006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Başlangıç</c:v>
                </c:pt>
                <c:pt idx="1">
                  <c:v>S1:Lab</c:v>
                </c:pt>
                <c:pt idx="2">
                  <c:v>S3:Bot</c:v>
                </c:pt>
                <c:pt idx="3">
                  <c:v>S4:C&amp;C</c:v>
                </c:pt>
                <c:pt idx="4">
                  <c:v>S5:İkisi</c:v>
                </c:pt>
                <c:pt idx="5">
                  <c:v>S7:Top5</c:v>
                </c:pt>
                <c:pt idx="6">
                  <c:v>S8:Rast5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98.2</c:v>
                </c:pt>
                <c:pt idx="1">
                  <c:v>49.3</c:v>
                </c:pt>
                <c:pt idx="2">
                  <c:v>80</c:v>
                </c:pt>
                <c:pt idx="3">
                  <c:v>98.1</c:v>
                </c:pt>
                <c:pt idx="4">
                  <c:v>80</c:v>
                </c:pt>
                <c:pt idx="5">
                  <c:v>18.600000000000001</c:v>
                </c:pt>
                <c:pt idx="6">
                  <c:v>98.1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2F-405B-8C28-63C39C683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743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DEGREE: </a:t>
            </a:r>
            <a:r>
              <a:rPr lang="en-US" b="0" dirty="0" err="1"/>
              <a:t>Toplam</a:t>
            </a:r>
            <a:r>
              <a:rPr lang="en-US" b="0" dirty="0"/>
              <a:t> </a:t>
            </a:r>
            <a:r>
              <a:rPr lang="en-US" b="0" dirty="0" err="1"/>
              <a:t>bağlantı</a:t>
            </a:r>
            <a:r>
              <a:rPr lang="en-US" b="0" dirty="0"/>
              <a:t> </a:t>
            </a:r>
            <a:r>
              <a:rPr lang="en-US" b="0" dirty="0" err="1"/>
              <a:t>sayısı</a:t>
            </a:r>
            <a:r>
              <a:rPr lang="en-US" b="0" dirty="0"/>
              <a:t>. Lab </a:t>
            </a:r>
            <a:r>
              <a:rPr lang="en-US" b="0" dirty="0" err="1"/>
              <a:t>merkezi</a:t>
            </a:r>
            <a:r>
              <a:rPr lang="en-US" b="0" dirty="0"/>
              <a:t> 4.314 </a:t>
            </a:r>
            <a:r>
              <a:rPr lang="en-US" b="0" dirty="0" err="1"/>
              <a:t>bağlantıyla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üstte</a:t>
            </a:r>
            <a:r>
              <a:rPr lang="en-US" b="0" dirty="0"/>
              <a:t> — lab </a:t>
            </a:r>
            <a:r>
              <a:rPr lang="en-US" b="0" dirty="0" err="1"/>
              <a:t>ortamında</a:t>
            </a:r>
            <a:r>
              <a:rPr lang="en-US" b="0" dirty="0"/>
              <a:t> </a:t>
            </a:r>
            <a:r>
              <a:rPr lang="en-US" b="0" dirty="0" err="1"/>
              <a:t>herkes</a:t>
            </a:r>
            <a:r>
              <a:rPr lang="en-US" b="0" dirty="0"/>
              <a:t> </a:t>
            </a:r>
            <a:r>
              <a:rPr lang="en-US" b="0" dirty="0" err="1"/>
              <a:t>bu</a:t>
            </a:r>
            <a:r>
              <a:rPr lang="en-US" b="0" dirty="0"/>
              <a:t> </a:t>
            </a:r>
            <a:r>
              <a:rPr lang="en-US" b="0" dirty="0" err="1"/>
              <a:t>sunucuya</a:t>
            </a:r>
            <a:r>
              <a:rPr lang="en-US" b="0" dirty="0"/>
              <a:t> </a:t>
            </a:r>
            <a:r>
              <a:rPr lang="en-US" b="0" dirty="0" err="1"/>
              <a:t>bağlanıyor</a:t>
            </a:r>
            <a:r>
              <a:rPr lang="en-US" b="0" dirty="0"/>
              <a:t>, </a:t>
            </a:r>
            <a:r>
              <a:rPr lang="en-US" b="0" dirty="0" err="1"/>
              <a:t>beklenen</a:t>
            </a:r>
            <a:r>
              <a:rPr lang="en-US" b="0" dirty="0"/>
              <a:t> </a:t>
            </a:r>
            <a:r>
              <a:rPr lang="en-US" b="0" dirty="0" err="1"/>
              <a:t>sonuç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1" dirty="0"/>
              <a:t>IN-DEGREE: </a:t>
            </a:r>
            <a:r>
              <a:rPr lang="en-US" b="0" dirty="0"/>
              <a:t>Gelen </a:t>
            </a:r>
            <a:r>
              <a:rPr lang="en-US" b="0" dirty="0" err="1"/>
              <a:t>bağlantı</a:t>
            </a:r>
            <a:r>
              <a:rPr lang="en-US" b="0" dirty="0"/>
              <a:t>. </a:t>
            </a:r>
            <a:r>
              <a:rPr lang="en-US" b="0" dirty="0" err="1"/>
              <a:t>C&amp;C'nin</a:t>
            </a:r>
            <a:r>
              <a:rPr lang="en-US" b="0" dirty="0"/>
              <a:t> </a:t>
            </a:r>
            <a:r>
              <a:rPr lang="en-US" b="0" dirty="0" err="1"/>
              <a:t>burada</a:t>
            </a:r>
            <a:r>
              <a:rPr lang="en-US" b="0" dirty="0"/>
              <a:t> </a:t>
            </a:r>
            <a:r>
              <a:rPr lang="en-US" b="0" dirty="0" err="1"/>
              <a:t>çıkmasını</a:t>
            </a:r>
            <a:r>
              <a:rPr lang="en-US" b="0" dirty="0"/>
              <a:t> </a:t>
            </a:r>
            <a:r>
              <a:rPr lang="en-US" b="0" dirty="0" err="1"/>
              <a:t>bekleriz</a:t>
            </a:r>
            <a:r>
              <a:rPr lang="en-US" b="0" dirty="0"/>
              <a:t> ama </a:t>
            </a:r>
            <a:r>
              <a:rPr lang="en-US" b="0" dirty="0" err="1"/>
              <a:t>senaryomuzda</a:t>
            </a:r>
            <a:r>
              <a:rPr lang="en-US" b="0" dirty="0"/>
              <a:t> </a:t>
            </a:r>
            <a:r>
              <a:rPr lang="en-US" b="0" dirty="0" err="1"/>
              <a:t>tek</a:t>
            </a:r>
            <a:r>
              <a:rPr lang="en-US" b="0" dirty="0"/>
              <a:t> </a:t>
            </a:r>
            <a:r>
              <a:rPr lang="en-US" b="0" dirty="0" err="1"/>
              <a:t>enfekte</a:t>
            </a:r>
            <a:r>
              <a:rPr lang="en-US" b="0" dirty="0"/>
              <a:t> </a:t>
            </a:r>
            <a:r>
              <a:rPr lang="en-US" b="0" dirty="0" err="1"/>
              <a:t>makine</a:t>
            </a:r>
            <a:r>
              <a:rPr lang="en-US" b="0" dirty="0"/>
              <a:t> var → </a:t>
            </a:r>
            <a:r>
              <a:rPr lang="en-US" b="0" dirty="0" err="1"/>
              <a:t>C&amp;C'ye</a:t>
            </a:r>
            <a:r>
              <a:rPr lang="en-US" b="0" dirty="0"/>
              <a:t> </a:t>
            </a:r>
            <a:r>
              <a:rPr lang="en-US" b="0" dirty="0" err="1"/>
              <a:t>sadece</a:t>
            </a:r>
            <a:r>
              <a:rPr lang="en-US" b="0" dirty="0"/>
              <a:t> 1 bot </a:t>
            </a:r>
            <a:r>
              <a:rPr lang="en-US" b="0" dirty="0" err="1"/>
              <a:t>bağlanıyor</a:t>
            </a:r>
            <a:r>
              <a:rPr lang="en-US" b="0" dirty="0"/>
              <a:t> → lab </a:t>
            </a:r>
            <a:r>
              <a:rPr lang="en-US" b="0" dirty="0" err="1"/>
              <a:t>sunucuları</a:t>
            </a:r>
            <a:r>
              <a:rPr lang="en-US" b="0" dirty="0"/>
              <a:t> </a:t>
            </a:r>
            <a:r>
              <a:rPr lang="en-US" b="0" dirty="0" err="1"/>
              <a:t>üstte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1" dirty="0"/>
              <a:t>OUT-DEGREE: </a:t>
            </a:r>
            <a:r>
              <a:rPr lang="en-US" b="0" dirty="0"/>
              <a:t>EN KRİTİK METRİK! Bot 1.579 </a:t>
            </a:r>
            <a:r>
              <a:rPr lang="en-US" b="0" dirty="0" err="1"/>
              <a:t>farklı</a:t>
            </a:r>
            <a:r>
              <a:rPr lang="en-US" b="0" dirty="0"/>
              <a:t> </a:t>
            </a:r>
            <a:r>
              <a:rPr lang="en-US" b="0" dirty="0" err="1"/>
              <a:t>dış</a:t>
            </a:r>
            <a:r>
              <a:rPr lang="en-US" b="0" dirty="0"/>
              <a:t> </a:t>
            </a:r>
            <a:r>
              <a:rPr lang="en-US" b="0" dirty="0" err="1"/>
              <a:t>IP'ye</a:t>
            </a:r>
            <a:r>
              <a:rPr lang="en-US" b="0" dirty="0"/>
              <a:t> </a:t>
            </a:r>
            <a:r>
              <a:rPr lang="en-US" b="0" dirty="0" err="1"/>
              <a:t>bağlanmış</a:t>
            </a:r>
            <a:r>
              <a:rPr lang="en-US" b="0" dirty="0"/>
              <a:t>. Normal </a:t>
            </a:r>
            <a:r>
              <a:rPr lang="en-US" b="0" dirty="0" err="1"/>
              <a:t>makine</a:t>
            </a:r>
            <a:r>
              <a:rPr lang="en-US" b="0" dirty="0"/>
              <a:t> </a:t>
            </a:r>
            <a:r>
              <a:rPr lang="en-US" b="0" dirty="0" err="1"/>
              <a:t>bunu</a:t>
            </a:r>
            <a:r>
              <a:rPr lang="en-US" b="0" dirty="0"/>
              <a:t> </a:t>
            </a:r>
            <a:r>
              <a:rPr lang="en-US" b="0" dirty="0" err="1"/>
              <a:t>yapmaz</a:t>
            </a:r>
            <a:r>
              <a:rPr lang="en-US" b="0" dirty="0"/>
              <a:t> → </a:t>
            </a:r>
            <a:r>
              <a:rPr lang="en-US" b="0" dirty="0" err="1"/>
              <a:t>bot'un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güçlü</a:t>
            </a:r>
            <a:r>
              <a:rPr lang="en-US" b="0" dirty="0"/>
              <a:t> </a:t>
            </a:r>
            <a:r>
              <a:rPr lang="en-US" b="0" dirty="0" err="1"/>
              <a:t>imzası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1" dirty="0"/>
              <a:t>BETWEENNESS: </a:t>
            </a:r>
            <a:r>
              <a:rPr lang="en-US" b="0" dirty="0" err="1"/>
              <a:t>Köprü</a:t>
            </a:r>
            <a:r>
              <a:rPr lang="en-US" b="0" dirty="0"/>
              <a:t> </a:t>
            </a:r>
            <a:r>
              <a:rPr lang="en-US" b="0" dirty="0" err="1"/>
              <a:t>düğümler</a:t>
            </a:r>
            <a:r>
              <a:rPr lang="en-US" b="0" dirty="0"/>
              <a:t>. Lab </a:t>
            </a:r>
            <a:r>
              <a:rPr lang="en-US" b="0" dirty="0" err="1"/>
              <a:t>merkezi</a:t>
            </a:r>
            <a:r>
              <a:rPr lang="en-US" b="0" dirty="0"/>
              <a:t> + DNS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yüksek</a:t>
            </a:r>
            <a:r>
              <a:rPr lang="en-US" b="0" dirty="0"/>
              <a:t> → hem botnet hem normal </a:t>
            </a:r>
            <a:r>
              <a:rPr lang="en-US" b="0" dirty="0" err="1"/>
              <a:t>trafik</a:t>
            </a:r>
            <a:r>
              <a:rPr lang="en-US" b="0" dirty="0"/>
              <a:t> </a:t>
            </a:r>
            <a:r>
              <a:rPr lang="en-US" b="0" dirty="0" err="1"/>
              <a:t>bunlardan</a:t>
            </a:r>
            <a:r>
              <a:rPr lang="en-US" b="0" dirty="0"/>
              <a:t> </a:t>
            </a:r>
            <a:r>
              <a:rPr lang="en-US" b="0" dirty="0" err="1"/>
              <a:t>geçiyor</a:t>
            </a:r>
            <a:r>
              <a:rPr lang="en-US" b="0" dirty="0"/>
              <a:t>. (k=500 </a:t>
            </a:r>
            <a:r>
              <a:rPr lang="en-US" b="0" dirty="0" err="1"/>
              <a:t>örnekleme</a:t>
            </a:r>
            <a:r>
              <a:rPr lang="en-US" b="0" dirty="0"/>
              <a:t> </a:t>
            </a:r>
            <a:r>
              <a:rPr lang="en-US" b="0" dirty="0" err="1"/>
              <a:t>ile</a:t>
            </a:r>
            <a:r>
              <a:rPr lang="en-US" b="0" dirty="0"/>
              <a:t> </a:t>
            </a:r>
            <a:r>
              <a:rPr lang="en-US" b="0" dirty="0" err="1"/>
              <a:t>hesaplandı</a:t>
            </a:r>
            <a:r>
              <a:rPr lang="en-US" b="0" dirty="0"/>
              <a:t>)</a:t>
            </a:r>
          </a:p>
          <a:p>
            <a:endParaRPr lang="en-US" b="0" dirty="0"/>
          </a:p>
          <a:p>
            <a:r>
              <a:rPr lang="en-US" b="1" dirty="0"/>
              <a:t>CLOSENESS: </a:t>
            </a:r>
            <a:r>
              <a:rPr lang="en-US" b="0" dirty="0"/>
              <a:t>Ağa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yakın</a:t>
            </a:r>
            <a:r>
              <a:rPr lang="en-US" b="0" dirty="0"/>
              <a:t> </a:t>
            </a:r>
            <a:r>
              <a:rPr lang="en-US" b="0" dirty="0" err="1"/>
              <a:t>düğümler</a:t>
            </a:r>
            <a:r>
              <a:rPr lang="en-US" b="0" dirty="0"/>
              <a:t>. </a:t>
            </a:r>
            <a:r>
              <a:rPr lang="en-US" b="0" dirty="0" err="1"/>
              <a:t>Merkezi</a:t>
            </a:r>
            <a:r>
              <a:rPr lang="en-US" b="0" dirty="0"/>
              <a:t> </a:t>
            </a:r>
            <a:r>
              <a:rPr lang="en-US" b="0" dirty="0" err="1"/>
              <a:t>hub'lar</a:t>
            </a:r>
            <a:r>
              <a:rPr lang="en-US" b="0" dirty="0"/>
              <a:t> </a:t>
            </a:r>
            <a:r>
              <a:rPr lang="en-US" b="0" dirty="0" err="1"/>
              <a:t>doğal</a:t>
            </a:r>
            <a:r>
              <a:rPr lang="en-US" b="0" dirty="0"/>
              <a:t> </a:t>
            </a:r>
            <a:r>
              <a:rPr lang="en-US" b="0" dirty="0" err="1"/>
              <a:t>olarak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yakın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1" dirty="0"/>
              <a:t>EIGENVECTOR: </a:t>
            </a:r>
            <a:r>
              <a:rPr lang="en-US" b="0" dirty="0" err="1"/>
              <a:t>Sadece</a:t>
            </a:r>
            <a:r>
              <a:rPr lang="en-US" b="0" dirty="0"/>
              <a:t> </a:t>
            </a:r>
            <a:r>
              <a:rPr lang="en-US" b="0" dirty="0" err="1"/>
              <a:t>kaç</a:t>
            </a:r>
            <a:r>
              <a:rPr lang="en-US" b="0" dirty="0"/>
              <a:t> </a:t>
            </a:r>
            <a:r>
              <a:rPr lang="en-US" b="0" dirty="0" err="1"/>
              <a:t>bağlantın</a:t>
            </a:r>
            <a:r>
              <a:rPr lang="en-US" b="0" dirty="0"/>
              <a:t> </a:t>
            </a:r>
            <a:r>
              <a:rPr lang="en-US" b="0" dirty="0" err="1"/>
              <a:t>değil</a:t>
            </a:r>
            <a:r>
              <a:rPr lang="en-US" b="0" dirty="0"/>
              <a:t>, KİMLERE </a:t>
            </a:r>
            <a:r>
              <a:rPr lang="en-US" b="0" dirty="0" err="1"/>
              <a:t>bağlısın</a:t>
            </a:r>
            <a:r>
              <a:rPr lang="en-US" b="0" dirty="0"/>
              <a:t>. </a:t>
            </a:r>
            <a:r>
              <a:rPr lang="en-US" b="0" dirty="0" err="1"/>
              <a:t>Etkili</a:t>
            </a:r>
            <a:r>
              <a:rPr lang="en-US" b="0" dirty="0"/>
              <a:t> </a:t>
            </a:r>
            <a:r>
              <a:rPr lang="en-US" b="0" dirty="0" err="1"/>
              <a:t>düğümlere</a:t>
            </a:r>
            <a:r>
              <a:rPr lang="en-US" b="0" dirty="0"/>
              <a:t> </a:t>
            </a:r>
            <a:r>
              <a:rPr lang="en-US" b="0" dirty="0" err="1"/>
              <a:t>bağlıysan</a:t>
            </a:r>
            <a:r>
              <a:rPr lang="en-US" b="0" dirty="0"/>
              <a:t> </a:t>
            </a:r>
            <a:r>
              <a:rPr lang="en-US" b="0" dirty="0" err="1"/>
              <a:t>sen</a:t>
            </a:r>
            <a:r>
              <a:rPr lang="en-US" b="0" dirty="0"/>
              <a:t> de </a:t>
            </a:r>
            <a:r>
              <a:rPr lang="en-US" b="0" dirty="0" err="1"/>
              <a:t>etkili</a:t>
            </a:r>
            <a:r>
              <a:rPr lang="en-US" b="0" dirty="0"/>
              <a:t>.</a:t>
            </a:r>
          </a:p>
          <a:p>
            <a:endParaRPr lang="en-US" b="1" dirty="0"/>
          </a:p>
          <a:p>
            <a:r>
              <a:rPr lang="en-US" b="1" dirty="0"/>
              <a:t>PAGERANK: </a:t>
            </a:r>
            <a:r>
              <a:rPr lang="en-US" b="0" dirty="0" err="1"/>
              <a:t>Google'ın</a:t>
            </a:r>
            <a:r>
              <a:rPr lang="en-US" b="0" dirty="0"/>
              <a:t> </a:t>
            </a:r>
            <a:r>
              <a:rPr lang="en-US" b="0" dirty="0" err="1"/>
              <a:t>sıralama</a:t>
            </a:r>
            <a:r>
              <a:rPr lang="en-US" b="0" dirty="0"/>
              <a:t> </a:t>
            </a:r>
            <a:r>
              <a:rPr lang="en-US" b="0" dirty="0" err="1"/>
              <a:t>algoritması</a:t>
            </a:r>
            <a:r>
              <a:rPr lang="en-US" b="0" dirty="0"/>
              <a:t>. </a:t>
            </a:r>
            <a:r>
              <a:rPr lang="en-US" b="0" dirty="0" err="1"/>
              <a:t>Yönlü</a:t>
            </a:r>
            <a:r>
              <a:rPr lang="en-US" b="0" dirty="0"/>
              <a:t> </a:t>
            </a:r>
            <a:r>
              <a:rPr lang="en-US" b="0" dirty="0" err="1"/>
              <a:t>graf</a:t>
            </a:r>
            <a:r>
              <a:rPr lang="en-US" b="0" dirty="0"/>
              <a:t> </a:t>
            </a:r>
            <a:r>
              <a:rPr lang="en-US" b="0" dirty="0" err="1"/>
              <a:t>için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uygun</a:t>
            </a:r>
            <a:r>
              <a:rPr lang="en-US" b="0" dirty="0"/>
              <a:t>. Lab </a:t>
            </a:r>
            <a:r>
              <a:rPr lang="en-US" b="0" dirty="0" err="1"/>
              <a:t>merkezi</a:t>
            </a:r>
            <a:r>
              <a:rPr lang="en-US" b="0" dirty="0"/>
              <a:t> </a:t>
            </a:r>
            <a:r>
              <a:rPr lang="en-US" b="0" dirty="0" err="1"/>
              <a:t>en</a:t>
            </a:r>
            <a:r>
              <a:rPr lang="en-US" b="0" dirty="0"/>
              <a:t> </a:t>
            </a:r>
            <a:r>
              <a:rPr lang="en-US" b="0" dirty="0" err="1"/>
              <a:t>yüksek</a:t>
            </a:r>
            <a:r>
              <a:rPr lang="en-US" b="0" dirty="0"/>
              <a:t> </a:t>
            </a:r>
            <a:r>
              <a:rPr lang="en-US" b="0" dirty="0" err="1"/>
              <a:t>otorite</a:t>
            </a:r>
            <a:r>
              <a:rPr lang="en-US" b="0" dirty="0"/>
              <a:t>.</a:t>
            </a:r>
          </a:p>
          <a:p>
            <a:endParaRPr lang="en-US" b="0" dirty="0"/>
          </a:p>
          <a:p>
            <a:r>
              <a:rPr lang="en-US" b="1" dirty="0"/>
              <a:t>SONUÇ: </a:t>
            </a:r>
            <a:r>
              <a:rPr lang="en-US" b="0" dirty="0"/>
              <a:t>Tek </a:t>
            </a:r>
            <a:r>
              <a:rPr lang="en-US" b="0" dirty="0" err="1"/>
              <a:t>metrik</a:t>
            </a:r>
            <a:r>
              <a:rPr lang="en-US" b="0" dirty="0"/>
              <a:t> </a:t>
            </a:r>
            <a:r>
              <a:rPr lang="en-US" b="0" dirty="0" err="1"/>
              <a:t>yetmez</a:t>
            </a:r>
            <a:r>
              <a:rPr lang="en-US" b="0" dirty="0"/>
              <a:t>! Bot → out-degree, C&amp;C → </a:t>
            </a:r>
            <a:r>
              <a:rPr lang="en-US" b="0" dirty="0" err="1"/>
              <a:t>hedef</a:t>
            </a:r>
            <a:r>
              <a:rPr lang="en-US" b="0" dirty="0"/>
              <a:t> </a:t>
            </a:r>
            <a:r>
              <a:rPr lang="en-US" b="0" dirty="0" err="1"/>
              <a:t>profil</a:t>
            </a:r>
            <a:r>
              <a:rPr lang="en-US" b="0" dirty="0"/>
              <a:t> </a:t>
            </a:r>
            <a:r>
              <a:rPr lang="en-US" b="0" dirty="0" err="1"/>
              <a:t>analizi</a:t>
            </a:r>
            <a:r>
              <a:rPr lang="en-US" b="0" dirty="0"/>
              <a:t>, </a:t>
            </a:r>
            <a:r>
              <a:rPr lang="en-US" b="0" dirty="0" err="1"/>
              <a:t>köprüler</a:t>
            </a:r>
            <a:r>
              <a:rPr lang="en-US" b="0" dirty="0"/>
              <a:t> → betweenness. </a:t>
            </a:r>
            <a:r>
              <a:rPr lang="en-US" b="0" dirty="0" err="1"/>
              <a:t>Kombinasyon</a:t>
            </a:r>
            <a:r>
              <a:rPr lang="en-US" b="0" dirty="0"/>
              <a:t> tam </a:t>
            </a:r>
            <a:r>
              <a:rPr lang="en-US" b="0" dirty="0" err="1"/>
              <a:t>resmi</a:t>
            </a:r>
            <a:r>
              <a:rPr lang="en-US" b="0" dirty="0"/>
              <a:t> </a:t>
            </a:r>
            <a:r>
              <a:rPr lang="en-US" b="0" dirty="0" err="1"/>
              <a:t>verir</a:t>
            </a:r>
            <a:r>
              <a:rPr lang="en-US" b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 AÇIKLAMASI:</a:t>
            </a:r>
          </a:p>
          <a:p>
            <a:r>
              <a:rPr lang="en-US" dirty="0"/>
              <a:t>- </a:t>
            </a:r>
            <a:r>
              <a:rPr lang="en-US" dirty="0" err="1"/>
              <a:t>Bileşen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artarsa</a:t>
            </a:r>
            <a:r>
              <a:rPr lang="en-US" dirty="0"/>
              <a:t> →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parçalanıyor</a:t>
            </a:r>
            <a:r>
              <a:rPr lang="en-US" dirty="0"/>
              <a:t> </a:t>
            </a:r>
            <a:r>
              <a:rPr lang="en-US" dirty="0" err="1"/>
              <a:t>demek</a:t>
            </a:r>
            <a:endParaRPr lang="en-US" dirty="0"/>
          </a:p>
          <a:p>
            <a:r>
              <a:rPr lang="en-US" dirty="0"/>
              <a:t>- En </a:t>
            </a:r>
            <a:r>
              <a:rPr lang="en-US" dirty="0" err="1"/>
              <a:t>büyük</a:t>
            </a:r>
            <a:r>
              <a:rPr lang="en-US" dirty="0"/>
              <a:t> % </a:t>
            </a:r>
            <a:r>
              <a:rPr lang="en-US" dirty="0" err="1"/>
              <a:t>düşerse</a:t>
            </a:r>
            <a:r>
              <a:rPr lang="en-US" dirty="0"/>
              <a:t> → </a:t>
            </a:r>
            <a:r>
              <a:rPr lang="en-US" dirty="0" err="1"/>
              <a:t>ağın</a:t>
            </a:r>
            <a:r>
              <a:rPr lang="en-US" dirty="0"/>
              <a:t> </a:t>
            </a:r>
            <a:r>
              <a:rPr lang="en-US" dirty="0" err="1"/>
              <a:t>çekirdeği</a:t>
            </a:r>
            <a:r>
              <a:rPr lang="en-US" dirty="0"/>
              <a:t> </a:t>
            </a:r>
            <a:r>
              <a:rPr lang="en-US" dirty="0" err="1"/>
              <a:t>küçülüyor</a:t>
            </a:r>
            <a:r>
              <a:rPr lang="en-US" dirty="0"/>
              <a:t> </a:t>
            </a:r>
            <a:r>
              <a:rPr lang="en-US" dirty="0" err="1"/>
              <a:t>demek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Başlangıç</a:t>
            </a:r>
            <a:r>
              <a:rPr lang="en-US" dirty="0"/>
              <a:t> → 66 </a:t>
            </a:r>
            <a:r>
              <a:rPr lang="en-US" dirty="0" err="1"/>
              <a:t>bileşen</a:t>
            </a:r>
            <a:r>
              <a:rPr lang="en-US" dirty="0"/>
              <a:t>, %98,2.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neredeyse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parça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referans</a:t>
            </a:r>
            <a:r>
              <a:rPr lang="en-US" dirty="0"/>
              <a:t> </a:t>
            </a:r>
            <a:r>
              <a:rPr lang="en-US" dirty="0" err="1"/>
              <a:t>noktamız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S1 Lab </a:t>
            </a:r>
            <a:r>
              <a:rPr lang="en-US" dirty="0" err="1"/>
              <a:t>Merkezi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 → 4.315 </a:t>
            </a:r>
            <a:r>
              <a:rPr lang="en-US" dirty="0" err="1"/>
              <a:t>bileşen</a:t>
            </a:r>
            <a:r>
              <a:rPr lang="en-US" dirty="0"/>
              <a:t>, %49,3. </a:t>
            </a:r>
            <a:r>
              <a:rPr lang="en-US" dirty="0" err="1"/>
              <a:t>Sadece</a:t>
            </a:r>
            <a:r>
              <a:rPr lang="en-US" dirty="0"/>
              <a:t> 1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 ama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yarıya</a:t>
            </a:r>
            <a:r>
              <a:rPr lang="en-US" dirty="0"/>
              <a:t> </a:t>
            </a:r>
            <a:r>
              <a:rPr lang="en-US" dirty="0" err="1"/>
              <a:t>bölündü</a:t>
            </a:r>
            <a:r>
              <a:rPr lang="en-US" dirty="0"/>
              <a:t>! Bu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hub, </a:t>
            </a:r>
            <a:r>
              <a:rPr lang="en-US" dirty="0" err="1"/>
              <a:t>herkes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bağlıydı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S3 Bot </a:t>
            </a:r>
            <a:r>
              <a:rPr lang="en-US" dirty="0" err="1"/>
              <a:t>izole</a:t>
            </a:r>
            <a:r>
              <a:rPr lang="en-US" dirty="0"/>
              <a:t> </a:t>
            </a:r>
            <a:r>
              <a:rPr lang="en-US" dirty="0" err="1"/>
              <a:t>edildi</a:t>
            </a:r>
            <a:r>
              <a:rPr lang="en-US" dirty="0"/>
              <a:t> → 1.641 </a:t>
            </a:r>
            <a:r>
              <a:rPr lang="en-US" dirty="0" err="1"/>
              <a:t>bileşen</a:t>
            </a:r>
            <a:r>
              <a:rPr lang="en-US" dirty="0"/>
              <a:t>, %80. </a:t>
            </a:r>
            <a:r>
              <a:rPr lang="en-US" dirty="0" err="1"/>
              <a:t>Bot'a</a:t>
            </a:r>
            <a:r>
              <a:rPr lang="en-US" dirty="0"/>
              <a:t> </a:t>
            </a:r>
            <a:r>
              <a:rPr lang="en-US" dirty="0" err="1"/>
              <a:t>bağlı</a:t>
            </a:r>
            <a:r>
              <a:rPr lang="en-US" dirty="0"/>
              <a:t> 1.579 spam </a:t>
            </a:r>
            <a:r>
              <a:rPr lang="en-US" dirty="0" err="1"/>
              <a:t>hedefi</a:t>
            </a:r>
            <a:r>
              <a:rPr lang="en-US" dirty="0"/>
              <a:t> </a:t>
            </a:r>
            <a:r>
              <a:rPr lang="en-US" dirty="0" err="1"/>
              <a:t>ağdan</a:t>
            </a:r>
            <a:r>
              <a:rPr lang="en-US" dirty="0"/>
              <a:t> </a:t>
            </a:r>
            <a:r>
              <a:rPr lang="en-US" dirty="0" err="1"/>
              <a:t>koptu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S4 C&amp;C </a:t>
            </a:r>
            <a:r>
              <a:rPr lang="en-US" dirty="0" err="1"/>
              <a:t>kapatıldı</a:t>
            </a:r>
            <a:r>
              <a:rPr lang="en-US" dirty="0"/>
              <a:t> → 66 </a:t>
            </a:r>
            <a:r>
              <a:rPr lang="en-US" dirty="0" err="1"/>
              <a:t>bileşen</a:t>
            </a:r>
            <a:r>
              <a:rPr lang="en-US" dirty="0"/>
              <a:t>, %98,1. DİKKAT! </a:t>
            </a:r>
            <a:r>
              <a:rPr lang="en-US" dirty="0" err="1"/>
              <a:t>Sayılar</a:t>
            </a:r>
            <a:r>
              <a:rPr lang="en-US" dirty="0"/>
              <a:t> </a:t>
            </a:r>
            <a:r>
              <a:rPr lang="en-US" dirty="0" err="1"/>
              <a:t>değişmedi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görünüyor</a:t>
            </a:r>
            <a:r>
              <a:rPr lang="en-US" dirty="0"/>
              <a:t> ama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yanıltıcı</a:t>
            </a:r>
            <a:r>
              <a:rPr lang="en-US" dirty="0"/>
              <a:t>. C&amp;C </a:t>
            </a:r>
            <a:r>
              <a:rPr lang="en-US" dirty="0" err="1"/>
              <a:t>kapandığında</a:t>
            </a:r>
            <a:r>
              <a:rPr lang="en-US" dirty="0"/>
              <a:t> bot </a:t>
            </a:r>
            <a:r>
              <a:rPr lang="en-US" dirty="0" err="1"/>
              <a:t>komut</a:t>
            </a:r>
            <a:r>
              <a:rPr lang="en-US" dirty="0"/>
              <a:t> </a:t>
            </a:r>
            <a:r>
              <a:rPr lang="en-US" dirty="0" err="1"/>
              <a:t>alamaz</a:t>
            </a:r>
            <a:r>
              <a:rPr lang="en-US" dirty="0"/>
              <a:t>, yeni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listesi</a:t>
            </a:r>
            <a:r>
              <a:rPr lang="en-US" dirty="0"/>
              <a:t> </a:t>
            </a:r>
            <a:r>
              <a:rPr lang="en-US" dirty="0" err="1"/>
              <a:t>alamaz</a:t>
            </a:r>
            <a:r>
              <a:rPr lang="en-US" dirty="0"/>
              <a:t>. Yani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yapısı</a:t>
            </a:r>
            <a:r>
              <a:rPr lang="en-US" dirty="0"/>
              <a:t> </a:t>
            </a:r>
            <a:r>
              <a:rPr lang="en-US" dirty="0" err="1"/>
              <a:t>sağlam</a:t>
            </a:r>
            <a:r>
              <a:rPr lang="en-US" dirty="0"/>
              <a:t> ama botnet </a:t>
            </a:r>
            <a:r>
              <a:rPr lang="en-US" dirty="0" err="1"/>
              <a:t>fiilen</a:t>
            </a:r>
            <a:r>
              <a:rPr lang="en-US" dirty="0"/>
              <a:t> </a:t>
            </a:r>
            <a:r>
              <a:rPr lang="en-US" dirty="0" err="1"/>
              <a:t>ölü</a:t>
            </a:r>
            <a:r>
              <a:rPr lang="en-US" dirty="0"/>
              <a:t>. </a:t>
            </a:r>
            <a:r>
              <a:rPr lang="en-US" dirty="0" err="1"/>
              <a:t>Burası</a:t>
            </a:r>
            <a:r>
              <a:rPr lang="en-US" dirty="0"/>
              <a:t> </a:t>
            </a:r>
            <a:r>
              <a:rPr lang="en-US" dirty="0" err="1"/>
              <a:t>önemli</a:t>
            </a:r>
            <a:r>
              <a:rPr lang="en-US" dirty="0"/>
              <a:t>: </a:t>
            </a:r>
            <a:r>
              <a:rPr lang="en-US" dirty="0" err="1"/>
              <a:t>graf</a:t>
            </a:r>
            <a:r>
              <a:rPr lang="en-US" dirty="0"/>
              <a:t> </a:t>
            </a:r>
            <a:r>
              <a:rPr lang="en-US" dirty="0" err="1"/>
              <a:t>metrikleri</a:t>
            </a:r>
            <a:r>
              <a:rPr lang="en-US" dirty="0"/>
              <a:t> her </a:t>
            </a:r>
            <a:r>
              <a:rPr lang="en-US" dirty="0" err="1"/>
              <a:t>şeyi</a:t>
            </a:r>
            <a:r>
              <a:rPr lang="en-US" dirty="0"/>
              <a:t> </a:t>
            </a:r>
            <a:r>
              <a:rPr lang="en-US" dirty="0" err="1"/>
              <a:t>anlatmıyor</a:t>
            </a:r>
            <a:r>
              <a:rPr lang="en-US" dirty="0"/>
              <a:t>, </a:t>
            </a:r>
            <a:r>
              <a:rPr lang="en-US" dirty="0" err="1"/>
              <a:t>düğümün</a:t>
            </a:r>
            <a:r>
              <a:rPr lang="en-US" dirty="0"/>
              <a:t> </a:t>
            </a:r>
            <a:r>
              <a:rPr lang="en-US" dirty="0" err="1"/>
              <a:t>fonksiyonel</a:t>
            </a:r>
            <a:r>
              <a:rPr lang="en-US" dirty="0"/>
              <a:t> </a:t>
            </a:r>
            <a:r>
              <a:rPr lang="en-US" dirty="0" err="1"/>
              <a:t>rolüne</a:t>
            </a:r>
            <a:r>
              <a:rPr lang="en-US" dirty="0"/>
              <a:t> de </a:t>
            </a:r>
            <a:r>
              <a:rPr lang="en-US" dirty="0" err="1"/>
              <a:t>bakmak</a:t>
            </a:r>
            <a:r>
              <a:rPr lang="en-US" dirty="0"/>
              <a:t> </a:t>
            </a:r>
            <a:r>
              <a:rPr lang="en-US" dirty="0" err="1"/>
              <a:t>lazım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S5 Bot + C&amp;C </a:t>
            </a:r>
            <a:r>
              <a:rPr lang="en-US" dirty="0" err="1"/>
              <a:t>birlikte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 → 1.640 </a:t>
            </a:r>
            <a:r>
              <a:rPr lang="en-US" dirty="0" err="1"/>
              <a:t>bileşen</a:t>
            </a:r>
            <a:r>
              <a:rPr lang="en-US" dirty="0"/>
              <a:t>, %80. Tam </a:t>
            </a:r>
            <a:r>
              <a:rPr lang="en-US" dirty="0" err="1"/>
              <a:t>temizlik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S7 En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dereceli</a:t>
            </a:r>
            <a:r>
              <a:rPr lang="en-US" dirty="0"/>
              <a:t> 5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 → 6.886 </a:t>
            </a:r>
            <a:r>
              <a:rPr lang="en-US" dirty="0" err="1"/>
              <a:t>bileşen</a:t>
            </a:r>
            <a:r>
              <a:rPr lang="en-US" dirty="0"/>
              <a:t>, %18,6. En </a:t>
            </a:r>
            <a:r>
              <a:rPr lang="en-US" dirty="0" err="1"/>
              <a:t>yıkıcı</a:t>
            </a:r>
            <a:r>
              <a:rPr lang="en-US" dirty="0"/>
              <a:t> </a:t>
            </a:r>
            <a:r>
              <a:rPr lang="en-US" dirty="0" err="1"/>
              <a:t>senaryo</a:t>
            </a:r>
            <a:r>
              <a:rPr lang="en-US" dirty="0"/>
              <a:t>! </a:t>
            </a:r>
            <a:r>
              <a:rPr lang="en-US" dirty="0" err="1"/>
              <a:t>Ağın</a:t>
            </a:r>
            <a:r>
              <a:rPr lang="en-US" dirty="0"/>
              <a:t> %80'i </a:t>
            </a:r>
            <a:r>
              <a:rPr lang="en-US" dirty="0" err="1"/>
              <a:t>paramparça</a:t>
            </a:r>
            <a:r>
              <a:rPr lang="en-US" dirty="0"/>
              <a:t> </a:t>
            </a:r>
            <a:r>
              <a:rPr lang="en-US" dirty="0" err="1"/>
              <a:t>oldu</a:t>
            </a:r>
            <a:r>
              <a:rPr lang="en-US" dirty="0"/>
              <a:t>. Sol </a:t>
            </a:r>
            <a:r>
              <a:rPr lang="en-US" dirty="0" err="1"/>
              <a:t>grafikteki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çubuk</a:t>
            </a:r>
            <a:r>
              <a:rPr lang="en-US" dirty="0"/>
              <a:t> bu.</a:t>
            </a:r>
          </a:p>
          <a:p>
            <a:endParaRPr lang="en-US" dirty="0"/>
          </a:p>
          <a:p>
            <a:r>
              <a:rPr lang="en-US" dirty="0"/>
              <a:t>S8 </a:t>
            </a:r>
            <a:r>
              <a:rPr lang="en-US" dirty="0" err="1"/>
              <a:t>Rastgele</a:t>
            </a:r>
            <a:r>
              <a:rPr lang="en-US" dirty="0"/>
              <a:t> 5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 → 66 </a:t>
            </a:r>
            <a:r>
              <a:rPr lang="en-US" dirty="0" err="1"/>
              <a:t>bileşen</a:t>
            </a:r>
            <a:r>
              <a:rPr lang="en-US" dirty="0"/>
              <a:t>, %98,1. </a:t>
            </a:r>
            <a:r>
              <a:rPr lang="en-US" dirty="0" err="1"/>
              <a:t>Hiçbir</a:t>
            </a:r>
            <a:r>
              <a:rPr lang="en-US" dirty="0"/>
              <a:t> </a:t>
            </a:r>
            <a:r>
              <a:rPr lang="en-US" dirty="0" err="1"/>
              <a:t>şey</a:t>
            </a:r>
            <a:r>
              <a:rPr lang="en-US" dirty="0"/>
              <a:t> </a:t>
            </a:r>
            <a:r>
              <a:rPr lang="en-US" dirty="0" err="1"/>
              <a:t>değişmedi</a:t>
            </a:r>
            <a:r>
              <a:rPr lang="en-US" dirty="0"/>
              <a:t>!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sayıda</a:t>
            </a:r>
            <a:r>
              <a:rPr lang="en-US" dirty="0"/>
              <a:t>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 ama </a:t>
            </a:r>
            <a:r>
              <a:rPr lang="en-US" dirty="0" err="1"/>
              <a:t>etki</a:t>
            </a:r>
            <a:r>
              <a:rPr lang="en-US" dirty="0"/>
              <a:t> </a:t>
            </a:r>
            <a:r>
              <a:rPr lang="en-US" dirty="0" err="1"/>
              <a:t>sıfır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ASIL MESAJ:</a:t>
            </a:r>
          </a:p>
          <a:p>
            <a:r>
              <a:rPr lang="en-US" dirty="0"/>
              <a:t>S7 </a:t>
            </a:r>
            <a:r>
              <a:rPr lang="en-US" dirty="0" err="1"/>
              <a:t>ile</a:t>
            </a:r>
            <a:r>
              <a:rPr lang="en-US" dirty="0"/>
              <a:t> S8'i </a:t>
            </a:r>
            <a:r>
              <a:rPr lang="en-US" dirty="0" err="1"/>
              <a:t>karşılaştırın</a:t>
            </a:r>
            <a:r>
              <a:rPr lang="en-US" dirty="0"/>
              <a:t> → </a:t>
            </a:r>
            <a:r>
              <a:rPr lang="en-US" dirty="0" err="1"/>
              <a:t>ikisinde</a:t>
            </a:r>
            <a:r>
              <a:rPr lang="en-US" dirty="0"/>
              <a:t> de 5 </a:t>
            </a:r>
            <a:r>
              <a:rPr lang="en-US" dirty="0" err="1"/>
              <a:t>düğüm</a:t>
            </a:r>
            <a:r>
              <a:rPr lang="en-US" dirty="0"/>
              <a:t> </a:t>
            </a:r>
            <a:r>
              <a:rPr lang="en-US" dirty="0" err="1"/>
              <a:t>silindi</a:t>
            </a:r>
            <a:r>
              <a:rPr lang="en-US" dirty="0"/>
              <a:t>. Ama </a:t>
            </a:r>
            <a:r>
              <a:rPr lang="en-US" dirty="0" err="1"/>
              <a:t>hedefli</a:t>
            </a:r>
            <a:r>
              <a:rPr lang="en-US" dirty="0"/>
              <a:t> </a:t>
            </a:r>
            <a:r>
              <a:rPr lang="en-US" dirty="0" err="1"/>
              <a:t>saldırı</a:t>
            </a:r>
            <a:r>
              <a:rPr lang="en-US" dirty="0"/>
              <a:t> 6.886 </a:t>
            </a:r>
            <a:r>
              <a:rPr lang="en-US" dirty="0" err="1"/>
              <a:t>bileşen</a:t>
            </a:r>
            <a:r>
              <a:rPr lang="en-US" dirty="0"/>
              <a:t> </a:t>
            </a:r>
            <a:r>
              <a:rPr lang="en-US" dirty="0" err="1"/>
              <a:t>yaratırken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saldırı</a:t>
            </a:r>
            <a:r>
              <a:rPr lang="en-US" dirty="0"/>
              <a:t> 66'da </a:t>
            </a:r>
            <a:r>
              <a:rPr lang="en-US" dirty="0" err="1"/>
              <a:t>kaldı</a:t>
            </a:r>
            <a:r>
              <a:rPr lang="en-US" dirty="0"/>
              <a:t>. Fark: 104 kat! Bu Albert-</a:t>
            </a:r>
            <a:r>
              <a:rPr lang="en-US" dirty="0" err="1"/>
              <a:t>Barabási'nin</a:t>
            </a:r>
            <a:r>
              <a:rPr lang="en-US" dirty="0"/>
              <a:t> 2000 </a:t>
            </a:r>
            <a:r>
              <a:rPr lang="en-US" dirty="0" err="1"/>
              <a:t>yılında</a:t>
            </a:r>
            <a:r>
              <a:rPr lang="en-US" dirty="0"/>
              <a:t> </a:t>
            </a:r>
            <a:r>
              <a:rPr lang="en-US" dirty="0" err="1"/>
              <a:t>Nature'da</a:t>
            </a:r>
            <a:r>
              <a:rPr lang="en-US" dirty="0"/>
              <a:t> </a:t>
            </a:r>
            <a:r>
              <a:rPr lang="en-US" dirty="0" err="1"/>
              <a:t>yayımladığı</a:t>
            </a:r>
            <a:r>
              <a:rPr lang="en-US" dirty="0"/>
              <a:t> </a:t>
            </a:r>
            <a:r>
              <a:rPr lang="en-US" dirty="0" err="1"/>
              <a:t>teoremin</a:t>
            </a:r>
            <a:r>
              <a:rPr lang="en-US" dirty="0"/>
              <a:t> </a:t>
            </a:r>
            <a:r>
              <a:rPr lang="en-US" dirty="0" err="1"/>
              <a:t>birebir</a:t>
            </a:r>
            <a:r>
              <a:rPr lang="en-US" dirty="0"/>
              <a:t> </a:t>
            </a:r>
            <a:r>
              <a:rPr lang="en-US" dirty="0" err="1"/>
              <a:t>ispatı</a:t>
            </a:r>
            <a:r>
              <a:rPr lang="en-US" dirty="0"/>
              <a:t>: scale-free </a:t>
            </a:r>
            <a:r>
              <a:rPr lang="en-US" dirty="0" err="1"/>
              <a:t>ağlar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arızalara</a:t>
            </a:r>
            <a:r>
              <a:rPr lang="en-US" dirty="0"/>
              <a:t> </a:t>
            </a:r>
            <a:r>
              <a:rPr lang="en-US" dirty="0" err="1"/>
              <a:t>dayanıklı</a:t>
            </a:r>
            <a:r>
              <a:rPr lang="en-US" dirty="0"/>
              <a:t> ama </a:t>
            </a:r>
            <a:r>
              <a:rPr lang="en-US" dirty="0" err="1"/>
              <a:t>hedefli</a:t>
            </a:r>
            <a:r>
              <a:rPr lang="en-US" dirty="0"/>
              <a:t> </a:t>
            </a:r>
            <a:r>
              <a:rPr lang="en-US" dirty="0" err="1"/>
              <a:t>saldırılara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kırılgan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" cy="2560320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60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Botnet Komuta-Kontrol (C</a:t>
            </a:r>
            <a:r>
              <a:rPr lang="tr-TR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C)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Altyapısının Sosyal Ağ Analizi</a:t>
            </a:r>
            <a:endParaRPr lang="en-US" sz="2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Yöntemleriyle Tespiti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46304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CTU-13 Senaryo 6 (DonBot) Üzerinde Uygulamalı Bir Çalışma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463040" y="3337560"/>
            <a:ext cx="3200400" cy="0"/>
          </a:xfrm>
          <a:prstGeom prst="line">
            <a:avLst/>
          </a:prstGeom>
          <a:noFill/>
          <a:ln w="19050">
            <a:solidFill>
              <a:srgbClr val="FF0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1463040" y="35204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Sena Bayraktar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241478111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Ağ Analizi — Dr. Öğr. Üyesi Özgür Tonkal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 Üniversitesi • Yazılım Mühendisliği •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49103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Sunum Akışı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53035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1612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Tanımı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1325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tehdidi ve SAA yaklaşımı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8046720" cy="53035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80136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1709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Seti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8308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CTU-13 Senaryo 6 — DonBot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331720"/>
            <a:ext cx="8046720" cy="53035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1"/>
          <p:cNvSpPr/>
          <p:nvPr/>
        </p:nvSpPr>
        <p:spPr>
          <a:xfrm>
            <a:off x="685800" y="233172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441448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 Modelleme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2606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8.701 düğüm, 9.618 kenar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2971800"/>
            <a:ext cx="8046720" cy="53035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5"/>
          <p:cNvSpPr/>
          <p:nvPr/>
        </p:nvSpPr>
        <p:spPr>
          <a:xfrm>
            <a:off x="685800" y="297180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308152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Merkezilik Analizi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783080" y="3246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metrik ile bot ve C&amp;C tespiti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8046720" cy="53035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Text 19"/>
          <p:cNvSpPr/>
          <p:nvPr/>
        </p:nvSpPr>
        <p:spPr>
          <a:xfrm>
            <a:off x="685800" y="36118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3721608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8308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Topluluk Tespiti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783080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algoritması — %99,9 saflık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48640" y="4251960"/>
            <a:ext cx="8046720" cy="53035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Text 23"/>
          <p:cNvSpPr/>
          <p:nvPr/>
        </p:nvSpPr>
        <p:spPr>
          <a:xfrm>
            <a:off x="685800" y="425196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4361688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78308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Dayanıklılık Analizi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178308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senaryo — Albert-Barabási ispatı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Tanımı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931920" cy="18288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93192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Botnet Tehdidi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Kötü amaçlı yazılım bulaşmış bilgisayar ağları. Spam dağıtımı, DDoS saldırıları, kimlik hırsızlığı ve fidye yazılımı yayılımı için kullanılır.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822960"/>
            <a:ext cx="3931920" cy="18288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Shape 8"/>
          <p:cNvSpPr/>
          <p:nvPr/>
        </p:nvSpPr>
        <p:spPr>
          <a:xfrm>
            <a:off x="4754880" y="822960"/>
            <a:ext cx="393192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05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Sosyal Ağ Analizi Çözümü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İçeriğe değil iletişim desenine bakar. Kim kimle, ne sıklıkla, hangi yoğunlukla? Şifreleme veya mutasyondan etkilenmez.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Araştırma Soruları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0080" y="32461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Bot ve C&amp;C hangi merkezilik metrikleriyle ayırt edilebilir?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Topluluk tespiti botnet'i normal trafikten ayırabilir mi?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Botnet ağları hedefli saldırılara karşı ne kadar dayanıklıdır?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C&amp;C takedown ağ yapısı üzerinde ne tür etki yaratır?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Seti: CTU-13 Senaryo 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558.919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Akış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606040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4.630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0604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Akış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754880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7.493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5488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Akış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777240"/>
            <a:ext cx="196596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903720" y="822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32.123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03720" y="1325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Küme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1569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Botnet ailesi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DonBot (IRC tabanlı, merkezi C&amp;C)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Mimari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Yıldız topolojisi — Tek C&amp;C sunucusu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formatı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Binetflow (SrcAddr, DstAddr, Proto, TotPkts, TotBytes, Label)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küme stratejisi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D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Botnet + Tüm Normal + 20K rastgele Background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Stratosphere Lab, Çek Teknik Üniversitesi (Kamuya açık, akademik)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DonBot?  IRC tabanlı merkezi C&amp;C → yıldız topolojisi → SAA metrikleriyle en net tespit edilebilecek mimari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 Modelleme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60604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8.701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(IP)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777240"/>
            <a:ext cx="260604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337560" y="777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9.618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280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(Trafik)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777240"/>
            <a:ext cx="2606040" cy="914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17920" y="777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0,0001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2801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03833"/>
            <a:ext cx="3931920" cy="2377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 Tanımı: G = (V, 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Düğüm (V):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Her benzersiz IP adresi bir düğüm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(E):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IP'ler arası yönlü trafik akışı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Yönlü Graf (DiGraph):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"Kim kime bağlandı" yönü korunur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Ağırlıkları: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Paket sayısı, byte, akış sayısı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3931920" cy="2377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Düğüm Dağılımı</a:t>
            </a:r>
            <a:endParaRPr lang="en-US" sz="15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937760" y="2423160"/>
          <a:ext cx="35661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dağılımı → Scale-free ağ → Albert-Barabási modeli ile uyumlu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Merkezilik Analizi — 7 Metrik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77724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bağlantı sayısı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777240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merkezi: 4.314 derece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53312"/>
            <a:ext cx="8229600" cy="484632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135331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In-Degree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35331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 bağlantı (C&amp;C imzası)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353312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sunucuları üstte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29384"/>
            <a:ext cx="82296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1929384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Out-Degree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1929384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Giden bağlantı (Bot imzası)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1929384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1.579 dış hedefe bağlanmış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8229600" cy="484632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2505456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2505456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Köprü/aracı düğümler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505456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merkezi + DNS köprü rolünde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81528"/>
            <a:ext cx="82296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3081528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3081528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 en hızlı erişen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081528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hub'lar en yakın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484632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Eigenvector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194560" y="3657600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 düğümlere bağlı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657600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bağlantıları öne çıkıyor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33672"/>
            <a:ext cx="8229600" cy="484632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0080" y="4233672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PageRank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4233672"/>
            <a:ext cx="2743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Otorite skoru (yönlü)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233672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merkezi en yüksek otorite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metrik yeterli değil → Metriklerin kombinasyonu ile bot ve C&amp;C tespiti yapıldı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ve C&amp;C Tespiti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3291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393192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 — 147.32.84.165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Out-degree: 1.579 farklı dış IP'ye bağlandı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 bir makine bu kadar hedefe bağlanmaz)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Akışlarının %100'e yakını botnet etiketli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profili: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C&amp;C sunucusuna 4.033 paket (14x diğerleri)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Hotmail/ISP SMTP sunucularına spam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Lab DNS'e düzenli sorgular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DonBot ailesi — spam dağıtım botu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3931920" cy="32918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3931920" cy="54864"/>
          </a:xfrm>
          <a:prstGeom prst="rect">
            <a:avLst/>
          </a:prstGeom>
          <a:solidFill>
            <a:srgbClr val="8338E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93776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C&amp;C — 91.212.135.158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Bot'un en yoğun iletişim kurduğu dış IP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4.033 paket — diğer hedeflerin 14 katı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Doğu Avrupa ASN'sinde kayıtlı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Sürekli, yoğun, tek taraflı iletişim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Klasik C&amp;C trafik deseni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Louvain: Bot ile aynı toplulukta (#2)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tabanlı komuta-kontrol sunucusu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katsayısı: 0,0002 → Üçgen yapı yok → Yıldız topolojisinin matematiksel ispatı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Louvain Topluluk Tespiti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2606040" cy="1097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0,8011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Modularite Skoru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(&gt;0,7 = çok güçlü)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777240"/>
            <a:ext cx="2606040" cy="1097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3337560" y="804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%99,9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3756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 #2 Saflığı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(Botnet topluluğu)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777240"/>
            <a:ext cx="2606040" cy="1097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217920" y="804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Denetimsiz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 bilgisi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kullanılmadan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3931920" cy="2377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Topluluk #2 İçeriği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 makinesi (147.32.84.165)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C&amp;C sunucusu (91.212.135.158)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Spam hedefleri (Hotmail SMTP, Shaw, Cogeco)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Küresel SMTP altyapısı düğümleri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DonBot'un ana faaliyeti: spam dağıtımı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3931920" cy="23774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Neden Louvain?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Hızlı: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O(n log n) — saniyeler içinde sonuç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Denetimsiz: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Topluluk sayısı önceden belirtilmez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Kanıtlanmış: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Blondel vd., 2008 — 10.000+ atıf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iletişim deseninden yola çıkarak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botnet'i %99,9 doğrulukla ayırdı!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Dayanıklılık Analizi — 8 Senaryo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31520"/>
          <a:ext cx="7315200" cy="19507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Senaryo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Büyük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S1: Lab Merkezi çıkarıldı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D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 Bot izole edildi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8338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S4: C&amp;C kapatıldı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D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S5: Bot + C&amp;C birlikte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0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S7: Top 5 hedefli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S8: Rastgele 5 (kontrol)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D1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457200" y="3108960"/>
          <a:ext cx="3931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54880" y="3108960"/>
          <a:ext cx="3931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Albert-Barabási Teoreminin İspatı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"Scale-free ağlar rastgele arızalara karşı dayanıklı, hedefli saldırılara karşı kırılgandır"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Albert &amp; Barabási, Nature, 2000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286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93192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Hedefli Saldırı (S7)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düğüm silindi (en yüksek dereceli)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6.886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bileşen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bileşen: %18,6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Ağın %80'i birbirinden koptu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3931920" cy="2286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393192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4937760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Rastgele Saldırı (S8)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düğüm silindi (rastgele seçilmiş)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937760" y="2971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 bileşen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bileşen: %98,1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 neredeyse hiç etkilenmedi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4160520"/>
            <a:ext cx="5486400" cy="73152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1828800" y="4160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Fark: </a:t>
            </a:r>
            <a:r>
              <a:rPr lang="en-US" sz="20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6.886 / 66 ≈ 104 kat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288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Hedefli saldırı, rastgele saldırıdan 104 kat daha yıkıcı — Teorem doğrulandı!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338E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C&amp;C Takedown Paradoksu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11480" y="845820"/>
            <a:ext cx="8229600" cy="18288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64008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33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sunucusu (91.212.135.158) silindiğinde: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2801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yapısı neredeyse hiç değişmedi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(bileşen: 66 → 66, oran: %98,2 → %98,1)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botnet fonksiyonel olarak öldü!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artık komut alamaz, yeni hedef listesi alamaz → işlevsiz </a:t>
            </a:r>
            <a:r>
              <a:rPr lang="en-US" sz="12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kalır</a:t>
            </a: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200" dirty="0">
              <a:solidFill>
                <a:srgbClr val="C9D1D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tr-TR" sz="1200" dirty="0">
              <a:solidFill>
                <a:srgbClr val="C9D1D9"/>
              </a:solidFill>
              <a:latin typeface="Calibri" pitchFamily="34" charset="0"/>
              <a:cs typeface="Calibri" pitchFamily="34" charset="-120"/>
            </a:endParaRPr>
          </a:p>
          <a:p>
            <a:pPr>
              <a:spcAft>
                <a:spcPts val="400"/>
              </a:spcAft>
            </a:pPr>
            <a:r>
              <a:rPr lang="sv-SE" sz="1200" dirty="0"/>
              <a:t>“</a:t>
            </a:r>
            <a:r>
              <a:rPr lang="sv-SE" sz="1200" dirty="0">
                <a:solidFill>
                  <a:schemeClr val="bg1"/>
                </a:solidFill>
              </a:rPr>
              <a:t>Askerler duruyor ama komutan yok.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75488" y="3124200"/>
            <a:ext cx="8229600" cy="12801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9" name="Shape 6"/>
          <p:cNvSpPr/>
          <p:nvPr/>
        </p:nvSpPr>
        <p:spPr>
          <a:xfrm>
            <a:off x="411480" y="3124200"/>
            <a:ext cx="64008" cy="1280160"/>
          </a:xfrm>
          <a:prstGeom prst="rect">
            <a:avLst/>
          </a:prstGeom>
          <a:solidFill>
            <a:srgbClr val="FFD60A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865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28575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Metodolojik Ders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31520" y="3337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metrikleri tek başına savunma stratejisi belirlemek için yeterli değildir. Düğümlerin fonksiyonel rolü de göz önünde bulundurulmalıdır. Topolojik önem ≠ Fonksiyonel önem.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 ve Bulgular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4864" cy="502920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777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(147.32.84.165) out-degree analizi ile yüksek doğrulukla tespit edildi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4864" cy="502920"/>
          </a:xfrm>
          <a:prstGeom prst="rect">
            <a:avLst/>
          </a:prstGeom>
          <a:solidFill>
            <a:srgbClr val="8338E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33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(91.212.135.158) hedef profil analizinde öne çıktı — 4.033 paket, 14x diğerleri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54864" cy="502920"/>
          </a:xfrm>
          <a:prstGeom prst="rect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19659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965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 katsayısı 0,0002 → yıldız topolojisinin matematiksel ispatı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0080" y="2560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Derece dağılımı power-law → scale-free ağ karakteri doğrulandı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54864" cy="502920"/>
          </a:xfrm>
          <a:prstGeom prst="rect">
            <a:avLst/>
          </a:prstGeom>
          <a:solidFill>
            <a:srgbClr val="FFD60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40080" y="3154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modularite 0,8011 → botnet altyapısı %99,9 saflıkla ayrıldı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54864" cy="502920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Hedefli saldırı rastgeleden 104 kat yıkıcı → Albert-Barabási (2000) doğrulandı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 yöntemleri, merkezi mimarili botnet C&amp;C altyapısının tespitinde yüksek doğrulukla uygulanabilir.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338E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Sınırlılıklar ve Gelecek Çalışmalar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3200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393192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Sınırlılıklar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19" y="1371600"/>
            <a:ext cx="318418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</a:t>
            </a: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P2P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DGA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botnet'lerde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merkezilik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metrikleri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yetersiz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kalabilir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analiz: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zamanlı tespit performansı test edilmedi.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3931920" cy="32004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393192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Gelecek Çalışmalar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Nöral Ağları (GNN):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Merkezilik metriklerini öznitelik olarak kullanan derin öğrenme modelleri.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Tespit: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Kayan pencere ile dinamik graf güncelleme ve periyodik topluluk tespiti.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Yaklaşım:</a:t>
            </a: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İletişim deseni + zaman serisi + protokol parmak izi.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338EC"/>
          </a:solidFill>
          <a:ln/>
        </p:spPr>
        <p:txBody>
          <a:bodyPr/>
          <a:lstStyle/>
          <a:p>
            <a:endParaRPr lang="tr-T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Kaynakça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60120" y="777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Albert, R. &amp; Barabási, A.-L. (2000). Error and attack tolerance of complex networks. Nature, 406, 378–382.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1280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Barabási, A.-L. &amp; Albert, R. (1999). Emergence of scaling in random networks. Science, 286, 509–512.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9"/>
          <p:cNvSpPr/>
          <p:nvPr/>
        </p:nvSpPr>
        <p:spPr>
          <a:xfrm>
            <a:off x="548640" y="1783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012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Blondel, V.D. vd. (2008). Fast unfolding of communities in large networks. JSTAT, P10008.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548640" y="2286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60120" y="2286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Brin, S. &amp; Page, L. (1998). The anatomy of a large-scale hypertextual web search engine. Computer Networks, 30, 107–117.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548640" y="2788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60120" y="2788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García, S. vd. (2014). An empirical comparison of botnet detection methods. Computers &amp; Security, 45, 100–123.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548640" y="32918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" y="3291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Hagberg, A.A. vd. (2008). Exploring network structure, dynamics, and function using NetworkX. SciPy 2008.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548640" y="3794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60120" y="3794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Silva, S.S.C. vd. (2013). Botnets: A survey. Computer Networks, 57(2), 378–403.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1C23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548640" y="42976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Zhou, J. vd. (2020). Automating botnet detection with graph neural networks. arXiv:2003.06344.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4008" cy="1828800"/>
          </a:xfrm>
          <a:prstGeom prst="rect">
            <a:avLst/>
          </a:prstGeom>
          <a:solidFill>
            <a:srgbClr val="FF00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563" y="2348906"/>
            <a:ext cx="3308053" cy="0"/>
          </a:xfrm>
          <a:prstGeom prst="line">
            <a:avLst/>
          </a:prstGeom>
          <a:noFill/>
          <a:ln w="19050">
            <a:solidFill>
              <a:srgbClr val="FF00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Sena Bayraktar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 Üniversitesi • Yazılım Mühendisliği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Ağ Analizi • Dr. Öğr. Üyesi Özgür Tonkal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1887</Words>
  <Application>Microsoft Office PowerPoint</Application>
  <PresentationFormat>Ekran Gösterisi (16:9)</PresentationFormat>
  <Paragraphs>324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Georgia</vt:lpstr>
      <vt:lpstr>Trebuchet MS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Botnet C&amp;C Sosyal Ağ Analizi</dc:title>
  <dc:subject>PptxGenJS Presentation</dc:subject>
  <dc:creator>Nur Sena Bayraktar</dc:creator>
  <cp:lastModifiedBy>Nur Sena Bayraktar</cp:lastModifiedBy>
  <cp:revision>3</cp:revision>
  <dcterms:created xsi:type="dcterms:W3CDTF">2026-05-22T12:02:41Z</dcterms:created>
  <dcterms:modified xsi:type="dcterms:W3CDTF">2026-05-22T18:28:50Z</dcterms:modified>
</cp:coreProperties>
</file>